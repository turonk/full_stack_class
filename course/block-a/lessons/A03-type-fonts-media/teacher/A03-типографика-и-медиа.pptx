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EE6A6"/>
                </a:solidFill>
                <a:latin typeface="Segoe UI"/>
              </a:rPr>
              <a:t>PULSELAB · УРОК A03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4F1EA"/>
                </a:solidFill>
                <a:latin typeface="Segoe UI"/>
              </a:rPr>
              <a:t>Типографика и обложка трека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9AA3B8"/>
                </a:solidFill>
                <a:latin typeface="Segoe UI"/>
              </a:rPr>
              <a:t>Квадрат без «жвачки» · alt своими словами · голос шрифтов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AA3B8"/>
                </a:solidFill>
                <a:latin typeface="Segoe UI"/>
              </a:rPr>
              <a:t>Группа смотрит на стену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9AA3B8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E6A6"/>
                </a:solidFill>
                <a:latin typeface="Segoe UI"/>
              </a:rPr>
              <a:t>ПОВТОРЕНИЕ · 60 СЕК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4F1EA"/>
                </a:solidFill>
                <a:latin typeface="Segoe UI"/>
              </a:rPr>
              <a:t>Зачем у картинки атрибут alt?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10698480" cy="2926080"/>
          </a:xfrm>
          <a:prstGeom prst="rect">
            <a:avLst/>
          </a:prstGeom>
          <a:solidFill>
            <a:srgbClr val="141A2A"/>
          </a:solidFill>
          <a:ln w="12700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2194560"/>
            <a:ext cx="9784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>
                <a:solidFill>
                  <a:srgbClr val="F4F1EA"/>
                </a:solidFill>
                <a:latin typeface="Segoe UI"/>
              </a:rPr>
              <a:t>•  Поднимите руки, кто помнит</a:t>
            </a:r>
          </a:p>
          <a:p>
            <a:pPr>
              <a:spcAft>
                <a:spcPts val="1400"/>
              </a:spcAft>
            </a:pPr>
            <a:r>
              <a:rPr sz="2600">
                <a:solidFill>
                  <a:srgbClr val="F4F1EA"/>
                </a:solidFill>
                <a:latin typeface="Segoe UI"/>
              </a:rPr>
              <a:t>•  Ждём один ответ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9AA3B8"/>
                </a:solidFill>
                <a:latin typeface="Segoe UI"/>
              </a:rPr>
              <a:t>Подсказка: у неё есть смысл даже тогда, когда картинку не видно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9AA3B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E6A6"/>
                </a:solidFill>
                <a:latin typeface="Segoe UI"/>
              </a:rP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4F1EA"/>
                </a:solidFill>
                <a:latin typeface="Segoe UI"/>
              </a:rPr>
              <a:t>Фото 4000×3000 в рамку 200×200 без правил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029200" cy="3657600"/>
          </a:xfrm>
          <a:prstGeom prst="rect">
            <a:avLst/>
          </a:prstGeom>
          <a:solidFill>
            <a:srgbClr val="141A2A"/>
          </a:solidFill>
          <a:ln w="12700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6B6B"/>
                </a:solidFill>
                <a:latin typeface="Segoe UI"/>
              </a:rPr>
              <a:t>Было — без правил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2651760"/>
            <a:ext cx="2926080" cy="2377440"/>
          </a:xfrm>
          <a:prstGeom prst="rect">
            <a:avLst/>
          </a:prstGeom>
          <a:solidFill>
            <a:srgbClr val="3A2A3A"/>
          </a:solidFill>
          <a:ln w="254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52120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6B6B"/>
                </a:solidFill>
                <a:latin typeface="Segoe UI"/>
              </a:rPr>
              <a:t>браузер растянул — «жвачка»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29184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2EE6A6"/>
                </a:solidFill>
                <a:latin typeface="Segoe U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2011680"/>
            <a:ext cx="5029200" cy="3657600"/>
          </a:xfrm>
          <a:prstGeom prst="rect">
            <a:avLst/>
          </a:prstGeom>
          <a:solidFill>
            <a:srgbClr val="141A2A"/>
          </a:solidFill>
          <a:ln w="12700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0" y="201168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EE6A6"/>
                </a:solidFill>
                <a:latin typeface="Segoe UI"/>
              </a:rPr>
              <a:t>Стало — с правилами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2651760"/>
            <a:ext cx="2926080" cy="2377440"/>
          </a:xfrm>
          <a:prstGeom prst="rect">
            <a:avLst/>
          </a:prstGeom>
          <a:solidFill>
            <a:srgbClr val="143A2A"/>
          </a:solidFill>
          <a:ln w="25400">
            <a:solidFill>
              <a:srgbClr val="2EE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0" y="52120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EE6A6"/>
                </a:solidFill>
                <a:latin typeface="Segoe UI"/>
              </a:rPr>
              <a:t>плотный квадрат — cover + aspect-ratio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9AA3B8"/>
                </a:solidFill>
                <a:latin typeface="Segoe UI"/>
              </a:rPr>
              <a:t>Кто виноват — фото или браузер?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9AA3B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E6A6"/>
                </a:solidFill>
                <a:latin typeface="Segoe UI"/>
              </a:rPr>
              <a:t>ПРАВИЛО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4F1EA"/>
                </a:solidFill>
                <a:latin typeface="Segoe UI"/>
              </a:rPr>
              <a:t>Иерархия: один главный смысл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486400" cy="4023360"/>
          </a:xfrm>
          <a:prstGeom prst="rect">
            <a:avLst/>
          </a:prstGeom>
          <a:solidFill>
            <a:srgbClr val="141A2A"/>
          </a:solidFill>
          <a:ln w="12700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4F1EA"/>
                </a:solidFill>
                <a:latin typeface="Segoe UI"/>
              </a:rPr>
              <a:t>Pixel Tide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AA3B8"/>
                </a:solidFill>
                <a:latin typeface="Segoe UI"/>
              </a:rPr>
              <a:t>Nova Park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AA3B8"/>
                </a:solidFill>
                <a:latin typeface="Segoe UI"/>
              </a:rPr>
              <a:t>3:14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9202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>
                <a:solidFill>
                  <a:srgbClr val="F4F1EA"/>
                </a:solidFill>
                <a:latin typeface="Segoe UI"/>
              </a:rPr>
              <a:t>•  название — h2, крупный, яркий</a:t>
            </a:r>
          </a:p>
          <a:p>
            <a:pPr>
              <a:spcAft>
                <a:spcPts val="1600"/>
              </a:spcAft>
            </a:pPr>
            <a:r>
              <a:rPr sz="2200">
                <a:solidFill>
                  <a:srgbClr val="F4F1EA"/>
                </a:solidFill>
                <a:latin typeface="Segoe UI"/>
              </a:rPr>
              <a:t>•  исполнитель — p, поменьше</a:t>
            </a:r>
          </a:p>
          <a:p>
            <a:pPr>
              <a:spcAft>
                <a:spcPts val="1600"/>
              </a:spcAft>
            </a:pPr>
            <a:r>
              <a:rPr sz="2200">
                <a:solidFill>
                  <a:srgbClr val="F4F1EA"/>
                </a:solidFill>
                <a:latin typeface="Segoe UI"/>
              </a:rPr>
              <a:t>•  длительность — p, приглушённая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9AA3B8"/>
                </a:solidFill>
                <a:latin typeface="Segoe UI"/>
              </a:rPr>
              <a:t>глаз за секунду находит, что смотреть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9AA3B8"/>
                </a:solidFill>
                <a:latin typeface="Segoe UI"/>
              </a:rPr>
              <a:t>Спроси: что на вашей карточке поставишь самым заметным?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9AA3B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E6A6"/>
                </a:solidFill>
                <a:latin typeface="Segoe UI"/>
              </a:rPr>
              <a:t>РЕЖИМЫ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4F1EA"/>
                </a:solidFill>
                <a:latin typeface="Segoe UI"/>
              </a:rPr>
              <a:t>object-fit · что выбрать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3200400" cy="4023360"/>
          </a:xfrm>
          <a:prstGeom prst="rect">
            <a:avLst/>
          </a:prstGeom>
          <a:solidFill>
            <a:srgbClr val="141A2A"/>
          </a:solidFill>
          <a:ln w="12700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2103120"/>
            <a:ext cx="2286000" cy="2286000"/>
          </a:xfrm>
          <a:prstGeom prst="rect">
            <a:avLst/>
          </a:prstGeom>
          <a:solidFill>
            <a:srgbClr val="0B0F1A"/>
          </a:solidFill>
          <a:ln w="25400">
            <a:solidFill>
              <a:srgbClr val="2EE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600200" y="2331720"/>
            <a:ext cx="1828800" cy="1828800"/>
          </a:xfrm>
          <a:prstGeom prst="rect">
            <a:avLst/>
          </a:prstGeom>
          <a:solidFill>
            <a:srgbClr val="143A2A"/>
          </a:solidFill>
          <a:ln>
            <a:solidFill>
              <a:srgbClr val="2EE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52628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2EE6A6"/>
                </a:solidFill>
                <a:latin typeface="Segoe UI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9AA3B8"/>
                </a:solidFill>
                <a:latin typeface="Segoe UI"/>
              </a:rPr>
              <a:t>заполнил кадр,
края обрезал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828800"/>
            <a:ext cx="3200400" cy="4023360"/>
          </a:xfrm>
          <a:prstGeom prst="rect">
            <a:avLst/>
          </a:prstGeom>
          <a:solidFill>
            <a:srgbClr val="141A2A"/>
          </a:solidFill>
          <a:ln w="12700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892040" y="2103120"/>
            <a:ext cx="2286000" cy="2286000"/>
          </a:xfrm>
          <a:prstGeom prst="rect">
            <a:avLst/>
          </a:prstGeom>
          <a:solidFill>
            <a:srgbClr val="0B0F1A"/>
          </a:solidFill>
          <a:ln w="25400">
            <a:solidFill>
              <a:srgbClr val="9A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577840" y="2331720"/>
            <a:ext cx="914400" cy="1828800"/>
          </a:xfrm>
          <a:prstGeom prst="rect">
            <a:avLst/>
          </a:prstGeom>
          <a:solidFill>
            <a:srgbClr val="1A223A"/>
          </a:solidFill>
          <a:ln>
            <a:solidFill>
              <a:srgbClr val="9A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452628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9AA3B8"/>
                </a:solidFill>
                <a:latin typeface="Segoe UI"/>
              </a:rPr>
              <a:t>contain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507492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9AA3B8"/>
                </a:solidFill>
                <a:latin typeface="Segoe UI"/>
              </a:rPr>
              <a:t>вся картинка,
поля по бокам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1828800"/>
            <a:ext cx="3200400" cy="4023360"/>
          </a:xfrm>
          <a:prstGeom prst="rect">
            <a:avLst/>
          </a:prstGeom>
          <a:solidFill>
            <a:srgbClr val="141A2A"/>
          </a:solidFill>
          <a:ln w="12700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12480" y="2103120"/>
            <a:ext cx="2286000" cy="2286000"/>
          </a:xfrm>
          <a:prstGeom prst="rect">
            <a:avLst/>
          </a:prstGeom>
          <a:solidFill>
            <a:srgbClr val="0B0F1A"/>
          </a:solidFill>
          <a:ln w="254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41080" y="2514600"/>
            <a:ext cx="1828800" cy="1463040"/>
          </a:xfrm>
          <a:prstGeom prst="rect">
            <a:avLst/>
          </a:prstGeom>
          <a:solidFill>
            <a:srgbClr val="3A221A"/>
          </a:solidFill>
          <a:ln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0" y="452628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6B6B"/>
                </a:solidFill>
                <a:latin typeface="Segoe UI"/>
              </a:rPr>
              <a:t>fill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507492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9AA3B8"/>
                </a:solidFill>
                <a:latin typeface="Segoe UI"/>
              </a:rPr>
              <a:t>растянул под рамку
(обычно ломает)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EE6A6"/>
                </a:solidFill>
                <a:latin typeface="Segoe UI"/>
              </a:rPr>
              <a:t>Для обложки в квадрате — какой режим и почему?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9AA3B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E6A6"/>
                </a:solidFill>
                <a:latin typeface="Segoe UI"/>
              </a:rPr>
              <a:t>ПРЕДСКАЗАНИЕ · РУКИ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4F1EA"/>
                </a:solidFill>
                <a:latin typeface="Segoe UI"/>
              </a:rPr>
              <a:t>Квадрат 200×200, фото 4000×3000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698480" cy="3291840"/>
          </a:xfrm>
          <a:prstGeom prst="rect">
            <a:avLst/>
          </a:prstGeom>
          <a:solidFill>
            <a:srgbClr val="141A2A"/>
          </a:solidFill>
          <a:ln w="12700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9784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600">
                <a:solidFill>
                  <a:srgbClr val="F4F1EA"/>
                </a:solidFill>
                <a:latin typeface="Segoe UI"/>
              </a:rPr>
              <a:t>•  1.  cover — что будет с краями фото?</a:t>
            </a:r>
          </a:p>
          <a:p>
            <a:pPr>
              <a:spcAft>
                <a:spcPts val="1800"/>
              </a:spcAft>
            </a:pPr>
            <a:r>
              <a:rPr sz="2600">
                <a:solidFill>
                  <a:srgbClr val="F4F1EA"/>
                </a:solidFill>
                <a:latin typeface="Segoe UI"/>
              </a:rPr>
              <a:t>•  2.  fill — что будет с лицом?</a:t>
            </a:r>
          </a:p>
          <a:p>
            <a:pPr>
              <a:spcAft>
                <a:spcPts val="1800"/>
              </a:spcAft>
            </a:pPr>
            <a:r>
              <a:rPr sz="2200" b="0">
                <a:solidFill>
                  <a:srgbClr val="9AA3B8"/>
                </a:solidFill>
                <a:latin typeface="Segoe UI"/>
              </a:rPr>
              <a:t>Проговариваем, потом я нажимаю на стенде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9AA3B8"/>
                </a:solidFill>
                <a:latin typeface="Segoe UI"/>
              </a:rPr>
              <a:t>Сначала слова — потом клик.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9AA3B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E6A6"/>
                </a:solidFill>
                <a:latin typeface="Segoe UI"/>
              </a:rPr>
              <a:t>ДОСТУПНОСТЬ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4F1EA"/>
                </a:solidFill>
                <a:latin typeface="Segoe UI"/>
              </a:rPr>
              <a:t>alt · слова вместо картинки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3108960"/>
          </a:xfrm>
          <a:prstGeom prst="rect">
            <a:avLst/>
          </a:prstGeom>
          <a:solidFill>
            <a:srgbClr val="141A2A"/>
          </a:solidFill>
          <a:ln w="12700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6B6B"/>
                </a:solidFill>
                <a:latin typeface="Segoe UI"/>
              </a:rPr>
              <a:t>Плохо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44805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4F1EA"/>
                </a:solidFill>
                <a:latin typeface="Segoe UI"/>
              </a:rPr>
              <a:t>&lt;img src="oblozhka.jpg"
     alt="img1"&gt;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9768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6B6B"/>
                </a:solidFill>
                <a:latin typeface="Segoe UI"/>
              </a:rPr>
              <a:t>есть место — нет смысла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828800"/>
            <a:ext cx="5120640" cy="3108960"/>
          </a:xfrm>
          <a:prstGeom prst="rect">
            <a:avLst/>
          </a:prstGeom>
          <a:solidFill>
            <a:srgbClr val="141A2A"/>
          </a:solidFill>
          <a:ln w="12700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EE6A6"/>
                </a:solidFill>
                <a:latin typeface="Segoe UI"/>
              </a:rPr>
              <a:t>Хорошо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60320"/>
            <a:ext cx="4572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4F1EA"/>
                </a:solidFill>
                <a:latin typeface="Segoe UI"/>
              </a:rPr>
              <a:t>&lt;img src="oblozhka.jpg"
     alt="Обложка трека Pixel Tide"&gt;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2976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EE6A6"/>
                </a:solidFill>
                <a:latin typeface="Segoe UI"/>
              </a:rPr>
              <a:t>смысл не пропал, даже если фото нет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12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000">
                <a:solidFill>
                  <a:srgbClr val="F4F1EA"/>
                </a:solidFill>
                <a:latin typeface="Segoe UI"/>
              </a:rPr>
              <a:t>•  Для кого пишем? Скринридер · отвалившийся интернет · поиск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9AA3B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E6A6"/>
                </a:solidFill>
                <a:latin typeface="Segoe UI"/>
              </a:rPr>
              <a:t>ДЕЛАЕШЬ САМ · КРИТЕРИЙ «ГОТОВО»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4F1EA"/>
                </a:solidFill>
                <a:latin typeface="Segoe UI"/>
              </a:rPr>
              <a:t>Заглушка → настоящая обложка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698480" cy="4023360"/>
          </a:xfrm>
          <a:prstGeom prst="rect">
            <a:avLst/>
          </a:prstGeom>
          <a:solidFill>
            <a:srgbClr val="141A2A"/>
          </a:solidFill>
          <a:ln w="12700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400">
                <a:solidFill>
                  <a:srgbClr val="F4F1EA"/>
                </a:solidFill>
                <a:latin typeface="Segoe UI"/>
              </a:rPr>
              <a:t>•  вместо заглушки-градиента — настоящая картинка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F4F1EA"/>
                </a:solidFill>
                <a:latin typeface="Segoe UI"/>
              </a:rPr>
              <a:t>•  object-fit: cover, квадрат, без «жвачки»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F4F1EA"/>
                </a:solidFill>
                <a:latin typeface="Segoe UI"/>
              </a:rPr>
              <a:t>•  alt своими словами: что на обложке</a:t>
            </a:r>
          </a:p>
          <a:p>
            <a:pPr>
              <a:spcAft>
                <a:spcPts val="1600"/>
              </a:spcAft>
            </a:pPr>
            <a:r>
              <a:rPr sz="2400">
                <a:solidFill>
                  <a:srgbClr val="F4F1EA"/>
                </a:solidFill>
                <a:latin typeface="Segoe UI"/>
              </a:rPr>
              <a:t>•  название трека заметно крупнее подписи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9AA3B8"/>
                </a:solidFill>
                <a:latin typeface="Segoe UI"/>
              </a:rPr>
              <a:t>открой task.md и иди по шагам 1–5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9AA3B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E6A6"/>
                </a:solidFill>
                <a:latin typeface="Segoe UI"/>
              </a:rPr>
              <a:t>ВЫХОД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4F1EA"/>
                </a:solidFill>
                <a:latin typeface="Segoe UI"/>
              </a:rPr>
              <a:t>Что уносим с урока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698480" cy="3840480"/>
          </a:xfrm>
          <a:prstGeom prst="rect">
            <a:avLst/>
          </a:prstGeom>
          <a:solidFill>
            <a:srgbClr val="141A2A"/>
          </a:solidFill>
          <a:ln w="12700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9784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>
                <a:solidFill>
                  <a:srgbClr val="F4F1EA"/>
                </a:solidFill>
                <a:latin typeface="Segoe UI"/>
              </a:rPr>
              <a:t>•  1.  Назови один термин своими словами: object-fit / alt / иерархия</a:t>
            </a:r>
          </a:p>
          <a:p>
            <a:pPr>
              <a:spcAft>
                <a:spcPts val="1800"/>
              </a:spcAft>
            </a:pPr>
            <a:r>
              <a:rPr sz="2400">
                <a:solidFill>
                  <a:srgbClr val="F4F1EA"/>
                </a:solidFill>
                <a:latin typeface="Segoe UI"/>
              </a:rPr>
              <a:t>•  2.  Кидай скрин обложки в чат группы</a:t>
            </a:r>
          </a:p>
          <a:p>
            <a:pPr>
              <a:spcAft>
                <a:spcPts val="1800"/>
              </a:spcAft>
            </a:pPr>
            <a:r>
              <a:rPr sz="2400">
                <a:solidFill>
                  <a:srgbClr val="F4F1EA"/>
                </a:solidFill>
                <a:latin typeface="Segoe UI"/>
              </a:rPr>
              <a:t>•  3.  Прогноз: почему fill не берём для обложки?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9AA3B8"/>
                </a:solidFill>
                <a:latin typeface="Segoe UI"/>
              </a:rPr>
              <a:t>Домашка: подключить шрифты PulseLab, проверить cover и alt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9AA3B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395</Words>
  <Application>Microsoft Office PowerPoint</Application>
  <PresentationFormat>Широкоэкранный</PresentationFormat>
  <Paragraphs>73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Andrew Gorlov</cp:lastModifiedBy>
  <cp:revision>2</cp:revision>
  <dcterms:created xsi:type="dcterms:W3CDTF">2013-01-27T09:14:16Z</dcterms:created>
  <dcterms:modified xsi:type="dcterms:W3CDTF">2026-10-16T21:58:57Z</dcterms:modified>
  <cp:category/>
</cp:coreProperties>
</file>